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8B89"/>
          </a:solidFill>
          <a:ln w="12700">
            <a:solidFill>
              <a:srgbClr val="0D8B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D8B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BANKFLOW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834640" y="2743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CHỊU TẢI CAO — TỔNG HỢP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768096"/>
            <a:ext cx="11064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5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 / CHƯA TÍCH HỢP BULLMQ + BATCH VÀO SOURCE HIỆN TẠI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84632" y="1307592"/>
            <a:ext cx="2048256" cy="1188720"/>
          </a:xfrm>
          <a:prstGeom prst="roundRect">
            <a:avLst>
              <a:gd name="adj" fmla="val 9231"/>
            </a:avLst>
          </a:prstGeom>
          <a:solidFill>
            <a:srgbClr val="E7F2F8"/>
          </a:solidFill>
          <a:ln w="13970">
            <a:solidFill>
              <a:srgbClr val="CFD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44752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3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NESTJS 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73936"/>
            <a:ext cx="1828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5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request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55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Idempotency Key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2560320" y="1920240"/>
            <a:ext cx="228600" cy="0"/>
          </a:xfrm>
          <a:prstGeom prst="line">
            <a:avLst/>
          </a:prstGeom>
          <a:noFill/>
          <a:ln w="25400">
            <a:solidFill>
              <a:srgbClr val="7892A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25496" y="1307592"/>
            <a:ext cx="2048256" cy="1188720"/>
          </a:xfrm>
          <a:prstGeom prst="roundRect">
            <a:avLst>
              <a:gd name="adj" fmla="val 9231"/>
            </a:avLst>
          </a:prstGeom>
          <a:solidFill>
            <a:srgbClr val="E1F3F0"/>
          </a:solidFill>
          <a:ln w="13970">
            <a:solidFill>
              <a:srgbClr val="CFD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35224" y="1444752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8B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BULLMQ / REDIS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35224" y="1773936"/>
            <a:ext cx="1828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5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+ Job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55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tiết tải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4901184" y="1920240"/>
            <a:ext cx="228600" cy="0"/>
          </a:xfrm>
          <a:prstGeom prst="line">
            <a:avLst/>
          </a:prstGeom>
          <a:noFill/>
          <a:ln w="25400">
            <a:solidFill>
              <a:srgbClr val="7892A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66360" y="1307592"/>
            <a:ext cx="2048256" cy="1188720"/>
          </a:xfrm>
          <a:prstGeom prst="roundRect">
            <a:avLst>
              <a:gd name="adj" fmla="val 9231"/>
            </a:avLst>
          </a:prstGeom>
          <a:solidFill>
            <a:srgbClr val="E1F3F0"/>
          </a:solidFill>
          <a:ln w="13970">
            <a:solidFill>
              <a:srgbClr val="CFDA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6088" y="1444752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8B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WORKER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76088" y="1773936"/>
            <a:ext cx="1828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5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Lấy Job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55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(PoC)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7242048" y="1920240"/>
            <a:ext cx="228600" cy="0"/>
          </a:xfrm>
          <a:prstGeom prst="line">
            <a:avLst/>
          </a:prstGeom>
          <a:noFill/>
          <a:ln w="25400">
            <a:solidFill>
              <a:srgbClr val="7892A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07224" y="1307592"/>
            <a:ext cx="2048256" cy="1188720"/>
          </a:xfrm>
          <a:prstGeom prst="roundRect">
            <a:avLst>
              <a:gd name="adj" fmla="val 9231"/>
            </a:avLst>
          </a:prstGeom>
          <a:solidFill>
            <a:srgbClr val="EEEBF7"/>
          </a:solidFill>
          <a:ln w="13970">
            <a:solidFill>
              <a:srgbClr val="CFDA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16952" y="1444752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3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POSTGRESQL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16952" y="1773936"/>
            <a:ext cx="1828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5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+ Transfer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55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+ COMMIT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9582912" y="1920240"/>
            <a:ext cx="228600" cy="0"/>
          </a:xfrm>
          <a:prstGeom prst="line">
            <a:avLst/>
          </a:prstGeom>
          <a:noFill/>
          <a:ln w="25400">
            <a:solidFill>
              <a:srgbClr val="7892A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48088" y="1307592"/>
            <a:ext cx="2048256" cy="1188720"/>
          </a:xfrm>
          <a:prstGeom prst="roundRect">
            <a:avLst>
              <a:gd name="adj" fmla="val 9231"/>
            </a:avLst>
          </a:prstGeom>
          <a:solidFill>
            <a:srgbClr val="E7F2F8"/>
          </a:solidFill>
          <a:ln w="13970">
            <a:solidFill>
              <a:srgbClr val="CFD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57816" y="1444752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3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KẾT QUẢ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957816" y="1773936"/>
            <a:ext cx="1828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5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Trạng thái riêng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55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thành công sau COMMIT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493776" y="2752344"/>
            <a:ext cx="11201400" cy="0"/>
          </a:xfrm>
          <a:prstGeom prst="line">
            <a:avLst/>
          </a:prstGeom>
          <a:noFill/>
          <a:ln w="19050">
            <a:solidFill>
              <a:srgbClr val="CFDA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91693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 HOT ROW — 100 CHUYỂN KHOẢN VÀO 2 TÀI KHOẢN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2920" y="3364992"/>
            <a:ext cx="3840480" cy="115214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3970">
            <a:solidFill>
              <a:srgbClr val="CFDA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8B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Job → LOTTE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9808" y="3831336"/>
            <a:ext cx="3108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5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Gộp credit hợp lệ theo tài khoản nhận</a:t>
            </a:r>
            <a:endParaRPr lang="en-US" sz="1070" dirty="0"/>
          </a:p>
        </p:txBody>
      </p:sp>
      <p:sp>
        <p:nvSpPr>
          <p:cNvPr id="30" name="Text 28"/>
          <p:cNvSpPr/>
          <p:nvPr/>
        </p:nvSpPr>
        <p:spPr>
          <a:xfrm>
            <a:off x="749808" y="41422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A7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Lock vẫn tồn tại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17136" y="3364992"/>
            <a:ext cx="3840480" cy="115214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3970">
            <a:solidFill>
              <a:srgbClr val="CFDA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4024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8B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Job → KFC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64024" y="3831336"/>
            <a:ext cx="3108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5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riêng Ledger cho từng giao dịch</a:t>
            </a:r>
            <a:endParaRPr lang="en-US" sz="1070" dirty="0"/>
          </a:p>
        </p:txBody>
      </p:sp>
      <p:sp>
        <p:nvSpPr>
          <p:cNvPr id="34" name="Text 32"/>
          <p:cNvSpPr/>
          <p:nvPr/>
        </p:nvSpPr>
        <p:spPr>
          <a:xfrm>
            <a:off x="4764024" y="41422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A7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làm mất lịch sử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31352" y="3364992"/>
            <a:ext cx="3154680" cy="1152144"/>
          </a:xfrm>
          <a:prstGeom prst="roundRect">
            <a:avLst>
              <a:gd name="adj" fmla="val 9524"/>
            </a:avLst>
          </a:prstGeom>
          <a:solidFill>
            <a:srgbClr val="F1F5FA"/>
          </a:solidFill>
          <a:ln w="13970">
            <a:solidFill>
              <a:srgbClr val="CFDA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69096" y="350215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3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FIRST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769096" y="3831336"/>
            <a:ext cx="25511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5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Trừ người gửi · Idempotency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55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· COMMIT/ROLLBACK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502920" y="4800600"/>
            <a:ext cx="5532120" cy="1252728"/>
          </a:xfrm>
          <a:prstGeom prst="roundRect">
            <a:avLst>
              <a:gd name="adj" fmla="val 8759"/>
            </a:avLst>
          </a:prstGeom>
          <a:solidFill>
            <a:srgbClr val="EFF6FA"/>
          </a:solidFill>
          <a:ln w="13970">
            <a:solidFill>
              <a:srgbClr val="CFDA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" y="496519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PLANNING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58952" y="5330952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55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TPS (COMMIT/s) · Latency p95/p99 · Backlog · DB Lock Wait</a:t>
            </a:r>
            <a:endParaRPr lang="en-US" sz="1170" dirty="0"/>
          </a:p>
        </p:txBody>
      </p:sp>
      <p:sp>
        <p:nvSpPr>
          <p:cNvPr id="41" name="Shape 39"/>
          <p:cNvSpPr/>
          <p:nvPr/>
        </p:nvSpPr>
        <p:spPr>
          <a:xfrm>
            <a:off x="6208776" y="4800600"/>
            <a:ext cx="5477256" cy="1252728"/>
          </a:xfrm>
          <a:prstGeom prst="roundRect">
            <a:avLst>
              <a:gd name="adj" fmla="val 8759"/>
            </a:avLst>
          </a:prstGeom>
          <a:solidFill>
            <a:srgbClr val="FFF7EC"/>
          </a:solidFill>
          <a:ln w="13970">
            <a:solidFill>
              <a:srgbClr val="EBD6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83096" y="4965192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BA7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QUYẾT ĐỊNH DỰA TRÊN BENCHMARK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6483096" y="5330952"/>
            <a:ext cx="4818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sánh: Direct · BullMQ · Batch · BullMQ + Batch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02920" y="6437376"/>
            <a:ext cx="11155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6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JITS Innovation Labs  ·  Tài liệu thảo luận với mentor  ·  18/10/2026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BankFlow - Tổng hợp kiến trúc chịu tải cao</dc:title>
  <dc:subject>JITS high load architecture</dc:subject>
  <dc:creator>BankFlow</dc:creator>
  <cp:lastModifiedBy>BankFlow</cp:lastModifiedBy>
  <cp:revision>1</cp:revision>
  <dcterms:created xsi:type="dcterms:W3CDTF">2026-10-17T22:33:48Z</dcterms:created>
  <dcterms:modified xsi:type="dcterms:W3CDTF">2026-10-17T22:33:48Z</dcterms:modified>
</cp:coreProperties>
</file>